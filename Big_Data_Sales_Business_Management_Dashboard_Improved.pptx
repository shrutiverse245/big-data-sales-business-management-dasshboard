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C93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Office Supplies</c:v>
                </c:pt>
                <c:pt idx="1">
                  <c:v>Technology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643.70000000000005</c:v>
                </c:pt>
                <c:pt idx="1">
                  <c:v>470.6</c:v>
                </c:pt>
                <c:pt idx="2">
                  <c:v>451.5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35-4963-B601-C25E3F7B30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38100" cap="flat">
              <a:solidFill>
                <a:srgbClr val="1C93E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93E8"/>
              </a:solidFill>
              <a:ln w="9525" cap="flat">
                <a:solidFill>
                  <a:srgbClr val="1C93E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2019</c:v>
                </c:pt>
                <c:pt idx="1">
                  <c:v>2020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564.70000000000005</c:v>
                </c:pt>
                <c:pt idx="1">
                  <c:v>1001.1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8CF-4F56-BF54-DE220452B9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1E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262-4C7C-91C4-A473116D2C90}"/>
              </c:ext>
            </c:extLst>
          </c:dPt>
          <c:dPt>
            <c:idx val="1"/>
            <c:bubble3D val="0"/>
            <c:spPr>
              <a:solidFill>
                <a:srgbClr val="F27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262-4C7C-91C4-A473116D2C90}"/>
              </c:ext>
            </c:extLst>
          </c:dPt>
          <c:dPt>
            <c:idx val="2"/>
            <c:bubble3D val="0"/>
            <c:spPr>
              <a:solidFill>
                <a:srgbClr val="1C93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262-4C7C-91C4-A473116D2C90}"/>
              </c:ext>
            </c:extLst>
          </c:dPt>
          <c:cat>
            <c:strRef>
              <c:f>Sheet1!$A$2:$A$4</c:f>
              <c:strCache>
                <c:ptCount val="3"/>
                <c:pt idx="0">
                  <c:v>COD</c:v>
                </c:pt>
                <c:pt idx="1">
                  <c:v>Online</c:v>
                </c:pt>
                <c:pt idx="2">
                  <c:v>Cards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667.4</c:v>
                </c:pt>
                <c:pt idx="1">
                  <c:v>554</c:v>
                </c:pt>
                <c:pt idx="2">
                  <c:v>344.4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262-4C7C-91C4-A473116D2C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586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AAC-4072-8FF5-E3953A4D390F}"/>
              </c:ext>
            </c:extLst>
          </c:dPt>
          <c:dPt>
            <c:idx val="1"/>
            <c:bubble3D val="0"/>
            <c:spPr>
              <a:solidFill>
                <a:srgbClr val="F27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AC-4072-8FF5-E3953A4D390F}"/>
              </c:ext>
            </c:extLst>
          </c:dPt>
          <c:dPt>
            <c:idx val="2"/>
            <c:bubble3D val="0"/>
            <c:spPr>
              <a:solidFill>
                <a:srgbClr val="1C93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AAC-4072-8FF5-E3953A4D390F}"/>
              </c:ext>
            </c:extLst>
          </c:dPt>
          <c:dPt>
            <c:idx val="3"/>
            <c:bubble3D val="0"/>
            <c:spPr>
              <a:solidFill>
                <a:srgbClr val="121E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AAC-4072-8FF5-E3953A4D390F}"/>
              </c:ext>
            </c:extLst>
          </c:dPt>
          <c:cat>
            <c:strRef>
              <c:f>Sheet1!$A$2:$A$5</c:f>
              <c:strCache>
                <c:ptCount val="4"/>
                <c:pt idx="0">
                  <c:v>Standard Class</c:v>
                </c:pt>
                <c:pt idx="1">
                  <c:v>Second Class</c:v>
                </c:pt>
                <c:pt idx="2">
                  <c:v>First Class</c:v>
                </c:pt>
                <c:pt idx="3">
                  <c:v>Same Day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3451</c:v>
                </c:pt>
                <c:pt idx="1">
                  <c:v>1147</c:v>
                </c:pt>
                <c:pt idx="2">
                  <c:v>959</c:v>
                </c:pt>
                <c:pt idx="3">
                  <c:v>344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AAC-4072-8FF5-E3953A4D39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C93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522.44000000000005</c:v>
                </c:pt>
                <c:pt idx="1">
                  <c:v>450.23</c:v>
                </c:pt>
                <c:pt idx="2">
                  <c:v>341.01</c:v>
                </c:pt>
                <c:pt idx="3">
                  <c:v>252.12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C2-43AF-B811-81CAC4C6E9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25A9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67.86</c:v>
                </c:pt>
                <c:pt idx="1">
                  <c:v>53.4</c:v>
                </c:pt>
                <c:pt idx="2">
                  <c:v>27.45</c:v>
                </c:pt>
                <c:pt idx="3">
                  <c:v>26.55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1B-4C6D-AEB3-BAFBC2A27A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029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B4D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653796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Big Data Sales Dashboard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600200" cy="141732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257800"/>
            <a:ext cx="1417320" cy="132588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03504"/>
            <a:ext cx="2011680" cy="0"/>
          </a:xfrm>
          <a:prstGeom prst="line">
            <a:avLst/>
          </a:prstGeom>
          <a:noFill/>
          <a:ln w="38100">
            <a:solidFill>
              <a:srgbClr val="1C93E8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960120"/>
            <a:ext cx="5623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50" b="1" dirty="0">
                <a:solidFill>
                  <a:srgbClr val="121E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Big Data Sales &amp;</a:t>
            </a:r>
            <a:endParaRPr lang="en-US" sz="3350" dirty="0"/>
          </a:p>
          <a:p>
            <a:pPr marL="0" indent="0">
              <a:buNone/>
            </a:pPr>
            <a:r>
              <a:rPr lang="en-US" sz="3350" b="1" dirty="0">
                <a:solidFill>
                  <a:srgbClr val="121E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Management</a:t>
            </a:r>
            <a:endParaRPr lang="en-US" sz="3350" dirty="0"/>
          </a:p>
          <a:p>
            <a:pPr marL="0" indent="0">
              <a:buNone/>
            </a:pPr>
            <a:r>
              <a:rPr lang="en-US" sz="3350" b="1" dirty="0">
                <a:solidFill>
                  <a:srgbClr val="121E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</a:t>
            </a:r>
            <a:endParaRPr lang="en-US" sz="3350" dirty="0"/>
          </a:p>
        </p:txBody>
      </p:sp>
      <p:sp>
        <p:nvSpPr>
          <p:cNvPr id="6" name="Text 4"/>
          <p:cNvSpPr/>
          <p:nvPr/>
        </p:nvSpPr>
        <p:spPr>
          <a:xfrm>
            <a:off x="749808" y="2926080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</a:rPr>
              <a:t>IBM Big Data Project • Superstore Sales Dataset • Power BI + Python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768096" y="3456432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1C93E8">
              <a:alpha val="96000"/>
            </a:srgbClr>
          </a:solidFill>
          <a:ln w="7620">
            <a:solidFill>
              <a:srgbClr val="1C9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535070"/>
            <a:ext cx="1170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Sales Analytics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67712" y="3456432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25A98B">
              <a:alpha val="96000"/>
            </a:srgbClr>
          </a:solidFill>
          <a:ln w="7620">
            <a:solidFill>
              <a:srgbClr val="25A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9152" y="3535070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Power BI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64992" y="3456432"/>
            <a:ext cx="1426464" cy="310896"/>
          </a:xfrm>
          <a:prstGeom prst="roundRect">
            <a:avLst>
              <a:gd name="adj" fmla="val 23529"/>
            </a:avLst>
          </a:prstGeom>
          <a:solidFill>
            <a:srgbClr val="F27A3D">
              <a:alpha val="96000"/>
            </a:srgbClr>
          </a:solidFill>
          <a:ln w="7620">
            <a:solidFill>
              <a:srgbClr val="F27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3535070"/>
            <a:ext cx="1243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Python Cleaning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7240" y="4690872"/>
            <a:ext cx="50292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24128" y="4956048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Goal: Convert raw sales records into clear, decision-ready business insights.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73952" y="713232"/>
            <a:ext cx="5010912" cy="5138928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pic>
        <p:nvPicPr>
          <p:cNvPr id="16" name="Image 0" descr="/mnt/data/111.jpeg"/>
          <p:cNvPicPr>
            <a:picLocks noChangeAspect="1"/>
          </p:cNvPicPr>
          <p:nvPr/>
        </p:nvPicPr>
        <p:blipFill>
          <a:blip r:embed="rId3"/>
          <a:srcRect l="3000" r="44077" b="5000"/>
          <a:stretch/>
        </p:blipFill>
        <p:spPr>
          <a:xfrm>
            <a:off x="6720840" y="960120"/>
            <a:ext cx="4526280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600200" cy="141732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257800"/>
            <a:ext cx="1417320" cy="132588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03504"/>
            <a:ext cx="2011680" cy="0"/>
          </a:xfrm>
          <a:prstGeom prst="line">
            <a:avLst/>
          </a:prstGeom>
          <a:noFill/>
          <a:ln w="38100">
            <a:solidFill>
              <a:srgbClr val="1C93E8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121E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A small but detailed BI project for sales, profit, quantity and customer performance analysis.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132588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1490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C93E8"/>
                </a:solidFill>
              </a:rPr>
              <a:t>252.12K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96112" y="18928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South Sales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044952" y="132588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18688" y="1490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A98B"/>
                </a:solidFill>
              </a:rPr>
              <a:t>26.55K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27832" y="18928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South Profit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376672" y="132588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50408" y="1490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27A3D"/>
                </a:solidFill>
              </a:rPr>
              <a:t>4K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59552" y="18928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Quantity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708392" y="132588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82128" y="149047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8586D5"/>
                </a:solidFill>
              </a:rPr>
              <a:t>5,901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91272" y="18928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Dataset Rows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784080" y="132588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957816" y="1490472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21E65"/>
                </a:solidFill>
              </a:rPr>
              <a:t>20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966960" y="189280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Columns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13232" y="2697480"/>
            <a:ext cx="521208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7552" y="2971800"/>
            <a:ext cx="914400" cy="283464"/>
          </a:xfrm>
          <a:prstGeom prst="roundRect">
            <a:avLst>
              <a:gd name="adj" fmla="val 20968"/>
            </a:avLst>
          </a:prstGeom>
          <a:solidFill>
            <a:srgbClr val="121E65"/>
          </a:solidFill>
          <a:ln w="6350">
            <a:solidFill>
              <a:srgbClr val="121E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8136" y="3038551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PURPOSE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987552" y="3493008"/>
            <a:ext cx="210312" cy="210312"/>
          </a:xfrm>
          <a:prstGeom prst="ellipse">
            <a:avLst/>
          </a:prstGeom>
          <a:solidFill>
            <a:srgbClr val="1C93E8"/>
          </a:solidFill>
          <a:ln w="12700">
            <a:solidFill>
              <a:srgbClr val="1C9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3525012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298448" y="34655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Analyze sales transactions using a visual dashboard.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987552" y="3995928"/>
            <a:ext cx="210312" cy="210312"/>
          </a:xfrm>
          <a:prstGeom prst="ellipse">
            <a:avLst/>
          </a:prstGeom>
          <a:solidFill>
            <a:srgbClr val="25A98B"/>
          </a:solidFill>
          <a:ln w="12700">
            <a:solidFill>
              <a:srgbClr val="25A9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4027932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298448" y="396849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Track KPIs and identify business performance quickly.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987552" y="4498848"/>
            <a:ext cx="210312" cy="210312"/>
          </a:xfrm>
          <a:prstGeom prst="ellipse">
            <a:avLst/>
          </a:prstGeom>
          <a:solidFill>
            <a:srgbClr val="F27A3D"/>
          </a:solidFill>
          <a:ln w="12700">
            <a:solidFill>
              <a:srgbClr val="F27A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4530852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298448" y="447141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Use region slicer for focused business comparison.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6263640" y="2697480"/>
            <a:ext cx="521208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37960" y="2971800"/>
            <a:ext cx="1188720" cy="283464"/>
          </a:xfrm>
          <a:prstGeom prst="roundRect">
            <a:avLst>
              <a:gd name="adj" fmla="val 20968"/>
            </a:avLst>
          </a:prstGeom>
          <a:solidFill>
            <a:srgbClr val="121E65"/>
          </a:solidFill>
          <a:ln w="6350">
            <a:solidFill>
              <a:srgbClr val="121E6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38544" y="3038551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FINAL OUTPUT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37960" y="35112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121E65"/>
                </a:solidFill>
              </a:rPr>
              <a:t>Interactive Power BI Dashboard</a:t>
            </a:r>
            <a:endParaRPr lang="en-US" sz="1720" dirty="0"/>
          </a:p>
        </p:txBody>
      </p:sp>
      <p:sp>
        <p:nvSpPr>
          <p:cNvPr id="38" name="Text 36"/>
          <p:cNvSpPr/>
          <p:nvPr/>
        </p:nvSpPr>
        <p:spPr>
          <a:xfrm>
            <a:off x="6537960" y="3950208"/>
            <a:ext cx="429768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Includes KPI cards, category sales, sales trend, payment mode, customer sales, ship mode and regional profit charts.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6537960" y="4690872"/>
            <a:ext cx="4297680" cy="0"/>
          </a:xfrm>
          <a:prstGeom prst="line">
            <a:avLst/>
          </a:prstGeom>
          <a:noFill/>
          <a:ln w="12700">
            <a:solidFill>
              <a:srgbClr val="C7DF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4846320"/>
            <a:ext cx="429768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67085"/>
                </a:solidFill>
              </a:rPr>
              <a:t>Business value: faster understanding of sales performance.</a:t>
            </a:r>
            <a:endParaRPr lang="en-US" sz="102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600200" cy="141732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257800"/>
            <a:ext cx="1417320" cy="132588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03504"/>
            <a:ext cx="2011680" cy="0"/>
          </a:xfrm>
          <a:prstGeom prst="line">
            <a:avLst/>
          </a:prstGeom>
          <a:noFill/>
          <a:ln w="38100">
            <a:solidFill>
              <a:srgbClr val="1C93E8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121E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 &amp; Objectives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Raw CSV data needs cleaning, aggregation and visualization before it can support decisions.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1700784"/>
            <a:ext cx="1600200" cy="283464"/>
          </a:xfrm>
          <a:prstGeom prst="roundRect">
            <a:avLst>
              <a:gd name="adj" fmla="val 20968"/>
            </a:avLst>
          </a:prstGeom>
          <a:solidFill>
            <a:srgbClr val="121E65"/>
          </a:solidFill>
          <a:ln w="6350">
            <a:solidFill>
              <a:srgbClr val="121E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1767535"/>
            <a:ext cx="1399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PROBLEM STATEMENT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51560" y="2212848"/>
            <a:ext cx="443484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Transaction-level Superstore data contains many details such as order date, customer, category, region, sales, quantity, profit and payment mode.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051560" y="3127248"/>
            <a:ext cx="443484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Management needs a simple dashboard to understand what is selling, where profit is high, and which operational areas need attention.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1051560" y="4160520"/>
            <a:ext cx="4434840" cy="0"/>
          </a:xfrm>
          <a:prstGeom prst="line">
            <a:avLst/>
          </a:prstGeom>
          <a:noFill/>
          <a:ln w="12700">
            <a:solidFill>
              <a:srgbClr val="C7DF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4622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21E65"/>
                </a:solidFill>
              </a:rPr>
              <a:t>Main challenge: convert raw data into clear business insights.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16636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37960" y="1700784"/>
            <a:ext cx="1051560" cy="283464"/>
          </a:xfrm>
          <a:prstGeom prst="roundRect">
            <a:avLst>
              <a:gd name="adj" fmla="val 20968"/>
            </a:avLst>
          </a:prstGeom>
          <a:solidFill>
            <a:srgbClr val="121E65"/>
          </a:solidFill>
          <a:ln w="6350">
            <a:solidFill>
              <a:srgbClr val="121E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38544" y="1767535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OBJECTIVES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6537960" y="2231136"/>
            <a:ext cx="210312" cy="210312"/>
          </a:xfrm>
          <a:prstGeom prst="ellipse">
            <a:avLst/>
          </a:prstGeom>
          <a:solidFill>
            <a:srgbClr val="1C93E8"/>
          </a:solidFill>
          <a:ln w="12700">
            <a:solidFill>
              <a:srgbClr val="1C9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263140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6848856" y="22037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Clean and verify the CSV dataset using Python Pandas.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537960" y="2779776"/>
            <a:ext cx="210312" cy="210312"/>
          </a:xfrm>
          <a:prstGeom prst="ellipse">
            <a:avLst/>
          </a:prstGeom>
          <a:solidFill>
            <a:srgbClr val="25A98B"/>
          </a:solidFill>
          <a:ln w="12700">
            <a:solidFill>
              <a:srgbClr val="25A9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811780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6848856" y="27523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Create KPIs for sales, profit and quantity.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537960" y="3328416"/>
            <a:ext cx="210312" cy="210312"/>
          </a:xfrm>
          <a:prstGeom prst="ellipse">
            <a:avLst/>
          </a:prstGeom>
          <a:solidFill>
            <a:srgbClr val="F27A3D"/>
          </a:solidFill>
          <a:ln w="12700">
            <a:solidFill>
              <a:srgbClr val="F27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360420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6848856" y="33009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Build clean Power BI visuals with filters.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537960" y="3877056"/>
            <a:ext cx="210312" cy="210312"/>
          </a:xfrm>
          <a:prstGeom prst="ellipse">
            <a:avLst/>
          </a:prstGeom>
          <a:solidFill>
            <a:srgbClr val="8586D5"/>
          </a:solidFill>
          <a:ln w="12700">
            <a:solidFill>
              <a:srgbClr val="8586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909060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848856" y="3849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Compare region, category, payment and shipping results.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537960" y="4425696"/>
            <a:ext cx="210312" cy="210312"/>
          </a:xfrm>
          <a:prstGeom prst="ellipse">
            <a:avLst/>
          </a:prstGeom>
          <a:solidFill>
            <a:srgbClr val="E35A5A"/>
          </a:solidFill>
          <a:ln w="12700">
            <a:solidFill>
              <a:srgbClr val="E35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4457700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848856" y="43982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Present useful insights for business management.</a:t>
            </a:r>
            <a:endParaRPr lang="en-US" sz="112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600200" cy="141732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257800"/>
            <a:ext cx="1417320" cy="132588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03504"/>
            <a:ext cx="2011680" cy="0"/>
          </a:xfrm>
          <a:prstGeom prst="line">
            <a:avLst/>
          </a:prstGeom>
          <a:noFill/>
          <a:ln w="38100">
            <a:solidFill>
              <a:srgbClr val="1C93E8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121E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Details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Cleaned Superstore Sales Dataset contains 5,901 rows and 20 columns.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207008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05256" y="137160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C93E8"/>
                </a:solidFill>
              </a:rPr>
              <a:t>1.56M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77393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Total Sales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907792" y="1207008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81528" y="137160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A98B"/>
                </a:solidFill>
              </a:rPr>
              <a:t>175.26K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90672" y="177393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Total Profit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084064" y="1207008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57800" y="137160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27A3D"/>
                </a:solidFill>
              </a:rPr>
              <a:t>22.32K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66944" y="177393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Quantity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260336" y="1207008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34072" y="137160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8586D5"/>
                </a:solidFill>
              </a:rPr>
              <a:t>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43216" y="177393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Missing Values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436608" y="1207008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10344" y="137160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21E65"/>
                </a:solidFill>
              </a:rPr>
              <a:t>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19488" y="177393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Duplicates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31520" y="2560320"/>
            <a:ext cx="521208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24128" y="2834640"/>
            <a:ext cx="1234440" cy="283464"/>
          </a:xfrm>
          <a:prstGeom prst="roundRect">
            <a:avLst>
              <a:gd name="adj" fmla="val 20968"/>
            </a:avLst>
          </a:prstGeom>
          <a:solidFill>
            <a:srgbClr val="121E65"/>
          </a:solidFill>
          <a:ln w="6350">
            <a:solidFill>
              <a:srgbClr val="121E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4712" y="2901391"/>
            <a:ext cx="1033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MAIN COLUMNS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051560" y="3310128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F7FBFF"/>
          </a:solidFill>
          <a:ln w="7620">
            <a:solidFill>
              <a:srgbClr val="D9EA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3376879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F2937"/>
                </a:solidFill>
              </a:rPr>
              <a:t>Order ID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3200400" y="3310128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F7FBFF"/>
          </a:solidFill>
          <a:ln w="7620">
            <a:solidFill>
              <a:srgbClr val="D9EA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376879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F2937"/>
                </a:solidFill>
              </a:rPr>
              <a:t>Order Date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1051560" y="36941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F7FBFF"/>
          </a:solidFill>
          <a:ln w="7620">
            <a:solidFill>
              <a:srgbClr val="D9EA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3760927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F2937"/>
                </a:solidFill>
              </a:rPr>
              <a:t>Ship Mode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3200400" y="36941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F7FBFF"/>
          </a:solidFill>
          <a:ln w="7620">
            <a:solidFill>
              <a:srgbClr val="D9EA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760927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F2937"/>
                </a:solidFill>
              </a:rPr>
              <a:t>Customer Name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1051560" y="4078224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F7FBFF"/>
          </a:solidFill>
          <a:ln w="7620">
            <a:solidFill>
              <a:srgbClr val="D9EA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43000" y="4144975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F2937"/>
                </a:solidFill>
              </a:rPr>
              <a:t>Region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3200400" y="4078224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F7FBFF"/>
          </a:solidFill>
          <a:ln w="7620">
            <a:solidFill>
              <a:srgbClr val="D9EA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4144975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F2937"/>
                </a:solidFill>
              </a:rPr>
              <a:t>Category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1051560" y="4462272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F7FBFF"/>
          </a:solidFill>
          <a:ln w="7620">
            <a:solidFill>
              <a:srgbClr val="D9EA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43000" y="4529023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F2937"/>
                </a:solidFill>
              </a:rPr>
              <a:t>Sales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3200400" y="4462272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F7FBFF"/>
          </a:solidFill>
          <a:ln w="7620">
            <a:solidFill>
              <a:srgbClr val="D9EA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4529023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F2937"/>
                </a:solidFill>
              </a:rPr>
              <a:t>Quantity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1051560" y="4846320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F7FBFF"/>
          </a:solidFill>
          <a:ln w="7620">
            <a:solidFill>
              <a:srgbClr val="D9EA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43000" y="4913071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F2937"/>
                </a:solidFill>
              </a:rPr>
              <a:t>Profit</a:t>
            </a:r>
            <a:endParaRPr lang="en-US" sz="770" dirty="0"/>
          </a:p>
        </p:txBody>
      </p:sp>
      <p:sp>
        <p:nvSpPr>
          <p:cNvPr id="43" name="Shape 41"/>
          <p:cNvSpPr/>
          <p:nvPr/>
        </p:nvSpPr>
        <p:spPr>
          <a:xfrm>
            <a:off x="3200400" y="4846320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F7FBFF"/>
          </a:solidFill>
          <a:ln w="7620">
            <a:solidFill>
              <a:srgbClr val="D9EA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1840" y="4913071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F2937"/>
                </a:solidFill>
              </a:rPr>
              <a:t>Payment Mode</a:t>
            </a:r>
            <a:endParaRPr lang="en-US" sz="770" dirty="0"/>
          </a:p>
        </p:txBody>
      </p:sp>
      <p:sp>
        <p:nvSpPr>
          <p:cNvPr id="45" name="Shape 43"/>
          <p:cNvSpPr/>
          <p:nvPr/>
        </p:nvSpPr>
        <p:spPr>
          <a:xfrm>
            <a:off x="6309360" y="2560320"/>
            <a:ext cx="516636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583680" y="2834640"/>
            <a:ext cx="1097280" cy="283464"/>
          </a:xfrm>
          <a:prstGeom prst="roundRect">
            <a:avLst>
              <a:gd name="adj" fmla="val 20968"/>
            </a:avLst>
          </a:prstGeom>
          <a:solidFill>
            <a:srgbClr val="121E65"/>
          </a:solidFill>
          <a:ln w="6350">
            <a:solidFill>
              <a:srgbClr val="121E6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84264" y="2901391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DATA SOURCE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6583680" y="3364992"/>
            <a:ext cx="448056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1E65"/>
                </a:solidFill>
              </a:rPr>
              <a:t>Source file: final_Superstore_Sales_Dataset.csv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83680" y="3794760"/>
            <a:ext cx="44348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Used for Power BI dashboard visuals and management-level analytics.</a:t>
            </a:r>
            <a:endParaRPr lang="en-US" sz="1120" dirty="0"/>
          </a:p>
        </p:txBody>
      </p:sp>
      <p:sp>
        <p:nvSpPr>
          <p:cNvPr id="50" name="Shape 48"/>
          <p:cNvSpPr/>
          <p:nvPr/>
        </p:nvSpPr>
        <p:spPr>
          <a:xfrm>
            <a:off x="6583680" y="4425696"/>
            <a:ext cx="4389120" cy="0"/>
          </a:xfrm>
          <a:prstGeom prst="line">
            <a:avLst/>
          </a:prstGeom>
          <a:noFill/>
          <a:ln w="12700">
            <a:solidFill>
              <a:srgbClr val="C7DF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4663440"/>
            <a:ext cx="44348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Time period in dashboard: 2019–2020.</a:t>
            </a:r>
            <a:endParaRPr lang="en-US" sz="105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600200" cy="141732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257800"/>
            <a:ext cx="1417320" cy="132588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03504"/>
            <a:ext cx="2011680" cy="0"/>
          </a:xfrm>
          <a:prstGeom prst="line">
            <a:avLst/>
          </a:prstGeom>
          <a:noFill/>
          <a:ln w="38100">
            <a:solidFill>
              <a:srgbClr val="1C93E8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121E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Structure &amp; Files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The project folders are arranged clearly for dataset, Python code, dashboard and report work.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353312"/>
            <a:ext cx="57150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pic>
        <p:nvPicPr>
          <p:cNvPr id="8" name="Image 0" descr="/mnt/data/1112.jpeg"/>
          <p:cNvPicPr>
            <a:picLocks noChangeAspect="1"/>
          </p:cNvPicPr>
          <p:nvPr/>
        </p:nvPicPr>
        <p:blipFill>
          <a:blip r:embed="rId3"/>
          <a:srcRect t="3000" r="9564" b="5000"/>
          <a:stretch/>
        </p:blipFill>
        <p:spPr>
          <a:xfrm>
            <a:off x="987552" y="1600200"/>
            <a:ext cx="5193792" cy="39136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48272" y="1353312"/>
            <a:ext cx="46177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22592" y="1664208"/>
            <a:ext cx="1170432" cy="283464"/>
          </a:xfrm>
          <a:prstGeom prst="roundRect">
            <a:avLst>
              <a:gd name="adj" fmla="val 20968"/>
            </a:avLst>
          </a:prstGeom>
          <a:solidFill>
            <a:srgbClr val="121E65"/>
          </a:solidFill>
          <a:ln w="6350">
            <a:solidFill>
              <a:srgbClr val="121E6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23176" y="1730959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FOLDER ROLE</a:t>
            </a:r>
            <a:endParaRPr lang="en-US" sz="680" dirty="0"/>
          </a:p>
        </p:txBody>
      </p:sp>
      <p:sp>
        <p:nvSpPr>
          <p:cNvPr id="12" name="Shape 9"/>
          <p:cNvSpPr/>
          <p:nvPr/>
        </p:nvSpPr>
        <p:spPr>
          <a:xfrm>
            <a:off x="7022592" y="2212848"/>
            <a:ext cx="210312" cy="210312"/>
          </a:xfrm>
          <a:prstGeom prst="ellipse">
            <a:avLst/>
          </a:prstGeom>
          <a:solidFill>
            <a:srgbClr val="1C93E8"/>
          </a:solidFill>
          <a:ln w="12700">
            <a:solidFill>
              <a:srgbClr val="1C93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22592" y="2244852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7333488" y="2185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dashboard: Power BI dashboard file.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7022592" y="2743200"/>
            <a:ext cx="210312" cy="210312"/>
          </a:xfrm>
          <a:prstGeom prst="ellipse">
            <a:avLst/>
          </a:prstGeom>
          <a:solidFill>
            <a:srgbClr val="25A98B"/>
          </a:solidFill>
          <a:ln w="12700">
            <a:solidFill>
              <a:srgbClr val="25A9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22592" y="2775204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7333488" y="2715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dataset: raw, cleaned and final CSV files.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022592" y="3273552"/>
            <a:ext cx="210312" cy="210312"/>
          </a:xfrm>
          <a:prstGeom prst="ellipse">
            <a:avLst/>
          </a:prstGeom>
          <a:solidFill>
            <a:srgbClr val="F27A3D"/>
          </a:solidFill>
          <a:ln w="12700">
            <a:solidFill>
              <a:srgbClr val="F27A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22592" y="3305556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7333488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python_code: data cleaning script.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7022592" y="3803904"/>
            <a:ext cx="210312" cy="210312"/>
          </a:xfrm>
          <a:prstGeom prst="ellipse">
            <a:avLst/>
          </a:prstGeom>
          <a:solidFill>
            <a:srgbClr val="8586D5"/>
          </a:solidFill>
          <a:ln w="12700">
            <a:solidFill>
              <a:srgbClr val="8586D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22592" y="3835908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7333488" y="3776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report: documentation and submission files.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7022592" y="4462272"/>
            <a:ext cx="3840480" cy="0"/>
          </a:xfrm>
          <a:prstGeom prst="line">
            <a:avLst/>
          </a:prstGeom>
          <a:noFill/>
          <a:ln w="12700">
            <a:solidFill>
              <a:srgbClr val="C7D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22592" y="4663440"/>
            <a:ext cx="38404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67085"/>
                </a:solidFill>
              </a:rPr>
              <a:t>This structure makes the project easy to check, run and submit.</a:t>
            </a:r>
            <a:endParaRPr lang="en-US" sz="106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600200" cy="141732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257800"/>
            <a:ext cx="1417320" cy="132588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03504"/>
            <a:ext cx="2011680" cy="0"/>
          </a:xfrm>
          <a:prstGeom prst="line">
            <a:avLst/>
          </a:prstGeom>
          <a:noFill/>
          <a:ln w="38100">
            <a:solidFill>
              <a:srgbClr val="1C93E8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121E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Cleaning Workflow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Python script checks quality and exports the final CSV used in Power BI.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40280" y="1920240"/>
            <a:ext cx="987552" cy="0"/>
          </a:xfrm>
          <a:prstGeom prst="line">
            <a:avLst/>
          </a:prstGeom>
          <a:noFill/>
          <a:ln w="26670">
            <a:solidFill>
              <a:srgbClr val="1C93E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34840" y="1920240"/>
            <a:ext cx="987552" cy="0"/>
          </a:xfrm>
          <a:prstGeom prst="line">
            <a:avLst/>
          </a:prstGeom>
          <a:noFill/>
          <a:ln w="26670">
            <a:solidFill>
              <a:srgbClr val="1C93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629400" y="1920240"/>
            <a:ext cx="987552" cy="0"/>
          </a:xfrm>
          <a:prstGeom prst="line">
            <a:avLst/>
          </a:prstGeom>
          <a:noFill/>
          <a:ln w="26670">
            <a:solidFill>
              <a:srgbClr val="1C93E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823960" y="1920240"/>
            <a:ext cx="987552" cy="0"/>
          </a:xfrm>
          <a:prstGeom prst="line">
            <a:avLst/>
          </a:prstGeom>
          <a:noFill/>
          <a:ln w="26670">
            <a:solidFill>
              <a:srgbClr val="1C93E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13232" y="1527048"/>
            <a:ext cx="1572768" cy="786384"/>
          </a:xfrm>
          <a:prstGeom prst="roundRect">
            <a:avLst>
              <a:gd name="adj" fmla="val 11628"/>
            </a:avLst>
          </a:prstGeom>
          <a:solidFill>
            <a:srgbClr val="1C93E8"/>
          </a:solidFill>
          <a:ln w="8890">
            <a:solidFill>
              <a:srgbClr val="1C93E8"/>
            </a:solidFill>
            <a:prstDash val="solid"/>
          </a:ln>
          <a:effectLst>
            <a:outerShdw blurRad="12700" dist="50800" dir="2700000" algn="bl" rotWithShape="0">
              <a:srgbClr val="6B7C8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" y="1728216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Load CSV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832104" y="1965960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</a:rPr>
              <a:t>pandas read_csv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2907792" y="1527048"/>
            <a:ext cx="1572768" cy="786384"/>
          </a:xfrm>
          <a:prstGeom prst="roundRect">
            <a:avLst>
              <a:gd name="adj" fmla="val 11628"/>
            </a:avLst>
          </a:prstGeom>
          <a:solidFill>
            <a:srgbClr val="25A98B"/>
          </a:solidFill>
          <a:ln w="8890">
            <a:solidFill>
              <a:srgbClr val="25A98B"/>
            </a:solidFill>
            <a:prstDash val="solid"/>
          </a:ln>
          <a:effectLst>
            <a:outerShdw blurRad="12700" dist="50800" dir="2700000" algn="bl" rotWithShape="0">
              <a:srgbClr val="6B7C8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26664" y="1728216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Inspect Data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3026664" y="1965960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</a:rPr>
              <a:t>head + shape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5102352" y="1527048"/>
            <a:ext cx="1572768" cy="786384"/>
          </a:xfrm>
          <a:prstGeom prst="roundRect">
            <a:avLst>
              <a:gd name="adj" fmla="val 11628"/>
            </a:avLst>
          </a:prstGeom>
          <a:solidFill>
            <a:srgbClr val="F27A3D"/>
          </a:solidFill>
          <a:ln w="8890">
            <a:solidFill>
              <a:srgbClr val="F27A3D"/>
            </a:solidFill>
            <a:prstDash val="solid"/>
          </a:ln>
          <a:effectLst>
            <a:outerShdw blurRad="12700" dist="50800" dir="2700000" algn="bl" rotWithShape="0">
              <a:srgbClr val="6B7C8E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21224" y="1728216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Check Quality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221224" y="1965960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</a:rPr>
              <a:t>missing + duplicates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7296912" y="1527048"/>
            <a:ext cx="1572768" cy="786384"/>
          </a:xfrm>
          <a:prstGeom prst="roundRect">
            <a:avLst>
              <a:gd name="adj" fmla="val 11628"/>
            </a:avLst>
          </a:prstGeom>
          <a:solidFill>
            <a:srgbClr val="8586D5"/>
          </a:solidFill>
          <a:ln w="8890">
            <a:solidFill>
              <a:srgbClr val="8586D5"/>
            </a:solidFill>
            <a:prstDash val="solid"/>
          </a:ln>
          <a:effectLst>
            <a:outerShdw blurRad="12700" dist="50800" dir="2700000" algn="bl" rotWithShape="0">
              <a:srgbClr val="6B7C8E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15784" y="1728216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Clean Rows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7415784" y="1965960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</a:rPr>
              <a:t>drop_duplicates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9491472" y="1527048"/>
            <a:ext cx="1572768" cy="786384"/>
          </a:xfrm>
          <a:prstGeom prst="roundRect">
            <a:avLst>
              <a:gd name="adj" fmla="val 11628"/>
            </a:avLst>
          </a:prstGeom>
          <a:solidFill>
            <a:srgbClr val="121E65"/>
          </a:solidFill>
          <a:ln w="8890">
            <a:solidFill>
              <a:srgbClr val="121E65"/>
            </a:solidFill>
            <a:prstDash val="solid"/>
          </a:ln>
          <a:effectLst>
            <a:outerShdw blurRad="12700" dist="50800" dir="2700000" algn="bl" rotWithShape="0">
              <a:srgbClr val="6B7C8E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10344" y="1728216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Export CSV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9610344" y="1965960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</a:rPr>
              <a:t>final dataset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731520" y="2788920"/>
            <a:ext cx="46177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87552" y="3054096"/>
            <a:ext cx="1261872" cy="283464"/>
          </a:xfrm>
          <a:prstGeom prst="roundRect">
            <a:avLst>
              <a:gd name="adj" fmla="val 20968"/>
            </a:avLst>
          </a:prstGeom>
          <a:solidFill>
            <a:srgbClr val="121E65"/>
          </a:solidFill>
          <a:ln w="6350">
            <a:solidFill>
              <a:srgbClr val="121E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8136" y="3120847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WHY CLEANING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987552" y="3584448"/>
            <a:ext cx="210312" cy="210312"/>
          </a:xfrm>
          <a:prstGeom prst="ellipse">
            <a:avLst/>
          </a:prstGeom>
          <a:solidFill>
            <a:srgbClr val="1C93E8"/>
          </a:solidFill>
          <a:ln w="12700">
            <a:solidFill>
              <a:srgbClr val="1C9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3616452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1298448" y="35570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Removes duplicate records from analysis.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987552" y="4059936"/>
            <a:ext cx="210312" cy="210312"/>
          </a:xfrm>
          <a:prstGeom prst="ellipse">
            <a:avLst/>
          </a:prstGeom>
          <a:solidFill>
            <a:srgbClr val="25A98B"/>
          </a:solidFill>
          <a:ln w="12700">
            <a:solidFill>
              <a:srgbClr val="25A9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4091940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298448" y="40325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Confirms no missing values before visualization.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987552" y="4535424"/>
            <a:ext cx="210312" cy="210312"/>
          </a:xfrm>
          <a:prstGeom prst="ellipse">
            <a:avLst/>
          </a:prstGeom>
          <a:solidFill>
            <a:srgbClr val="F27A3D"/>
          </a:solidFill>
          <a:ln w="12700">
            <a:solidFill>
              <a:srgbClr val="F27A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4567428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298448" y="4507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Creates a consistent final dataset for dashboard.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5687568" y="2788920"/>
            <a:ext cx="55321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pic>
        <p:nvPicPr>
          <p:cNvPr id="39" name="Image 0" descr="/mnt/data/113.jpeg"/>
          <p:cNvPicPr>
            <a:picLocks noChangeAspect="1"/>
          </p:cNvPicPr>
          <p:nvPr/>
        </p:nvPicPr>
        <p:blipFill>
          <a:blip r:embed="rId3"/>
          <a:srcRect r="-83912" b="4000"/>
          <a:stretch/>
        </p:blipFill>
        <p:spPr>
          <a:xfrm>
            <a:off x="5897880" y="3035808"/>
            <a:ext cx="5102352" cy="2286000"/>
          </a:xfrm>
          <a:prstGeom prst="rect">
            <a:avLst/>
          </a:prstGeom>
        </p:spPr>
      </p:pic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600200" cy="141732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257800"/>
            <a:ext cx="1417320" cy="132588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03504"/>
            <a:ext cx="2011680" cy="0"/>
          </a:xfrm>
          <a:prstGeom prst="line">
            <a:avLst/>
          </a:prstGeom>
          <a:noFill/>
          <a:ln w="38100">
            <a:solidFill>
              <a:srgbClr val="1C93E8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121E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UI Design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The dashboard follows a clean blue theme with rounded KPI cards and chart boxes.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298448"/>
            <a:ext cx="110185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pic>
        <p:nvPicPr>
          <p:cNvPr id="8" name="Image 0" descr="/mnt/data/11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08159"/>
            <a:ext cx="5989320" cy="340393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14032" y="1664208"/>
            <a:ext cx="0" cy="3794760"/>
          </a:xfrm>
          <a:prstGeom prst="line">
            <a:avLst/>
          </a:prstGeom>
          <a:noFill/>
          <a:ln w="12700">
            <a:solidFill>
              <a:srgbClr val="C7DF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60920" y="1682496"/>
            <a:ext cx="1143000" cy="283464"/>
          </a:xfrm>
          <a:prstGeom prst="roundRect">
            <a:avLst>
              <a:gd name="adj" fmla="val 20968"/>
            </a:avLst>
          </a:prstGeom>
          <a:solidFill>
            <a:srgbClr val="121E65"/>
          </a:solidFill>
          <a:ln w="6350">
            <a:solidFill>
              <a:srgbClr val="121E6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61504" y="1749247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UI ELEMENTS</a:t>
            </a:r>
            <a:endParaRPr lang="en-US" sz="680" dirty="0"/>
          </a:p>
        </p:txBody>
      </p:sp>
      <p:sp>
        <p:nvSpPr>
          <p:cNvPr id="12" name="Shape 9"/>
          <p:cNvSpPr/>
          <p:nvPr/>
        </p:nvSpPr>
        <p:spPr>
          <a:xfrm>
            <a:off x="7360920" y="2176272"/>
            <a:ext cx="210312" cy="210312"/>
          </a:xfrm>
          <a:prstGeom prst="ellipse">
            <a:avLst/>
          </a:prstGeom>
          <a:solidFill>
            <a:srgbClr val="1C93E8"/>
          </a:solidFill>
          <a:ln w="12700">
            <a:solidFill>
              <a:srgbClr val="1C93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60920" y="2208276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7671816" y="21488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Title bar with project name.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7360920" y="2688336"/>
            <a:ext cx="210312" cy="210312"/>
          </a:xfrm>
          <a:prstGeom prst="ellipse">
            <a:avLst/>
          </a:prstGeom>
          <a:solidFill>
            <a:srgbClr val="25A98B"/>
          </a:solidFill>
          <a:ln w="12700">
            <a:solidFill>
              <a:srgbClr val="25A9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60920" y="2720340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7671816" y="266090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Top KPI cards for quick summary.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360920" y="3200400"/>
            <a:ext cx="210312" cy="210312"/>
          </a:xfrm>
          <a:prstGeom prst="ellipse">
            <a:avLst/>
          </a:prstGeom>
          <a:solidFill>
            <a:srgbClr val="F27A3D"/>
          </a:solidFill>
          <a:ln w="12700">
            <a:solidFill>
              <a:srgbClr val="F27A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60920" y="3232404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7671816" y="31729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Rounded chart containers with soft shadows.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7360920" y="3712464"/>
            <a:ext cx="210312" cy="210312"/>
          </a:xfrm>
          <a:prstGeom prst="ellipse">
            <a:avLst/>
          </a:prstGeom>
          <a:solidFill>
            <a:srgbClr val="8586D5"/>
          </a:solidFill>
          <a:ln w="12700">
            <a:solidFill>
              <a:srgbClr val="8586D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60920" y="3744468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7671816" y="36850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Region filter/slicer for dashboard interaction.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7360920" y="4224528"/>
            <a:ext cx="210312" cy="210312"/>
          </a:xfrm>
          <a:prstGeom prst="ellipse">
            <a:avLst/>
          </a:prstGeom>
          <a:solidFill>
            <a:srgbClr val="121E65"/>
          </a:solidFill>
          <a:ln w="12700">
            <a:solidFill>
              <a:srgbClr val="121E6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60920" y="4256532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7671816" y="41970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Consistent blue color palette for a professional look.</a:t>
            </a:r>
            <a:endParaRPr lang="en-US" sz="11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600200" cy="141732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257800"/>
            <a:ext cx="1417320" cy="132588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03504"/>
            <a:ext cx="2011680" cy="0"/>
          </a:xfrm>
          <a:prstGeom prst="line">
            <a:avLst/>
          </a:prstGeom>
          <a:noFill/>
          <a:ln w="38100">
            <a:solidFill>
              <a:srgbClr val="1C93E8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121E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KPIs &amp; Dashboard Filters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KPI cards provide fast summary and slicers make the dashboard interactive.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1490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C93E8"/>
                </a:solidFill>
              </a:rPr>
              <a:t>252.12K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18928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South Sales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108960" y="132588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82696" y="1490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A98B"/>
                </a:solidFill>
              </a:rPr>
              <a:t>26.55K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18928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South Profit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440680" y="132588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14416" y="1490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27A3D"/>
                </a:solidFill>
              </a:rPr>
              <a:t>4K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23560" y="18928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Quantity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818120" y="1325880"/>
            <a:ext cx="336499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92440" y="15727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E65"/>
                </a:solidFill>
              </a:rPr>
              <a:t>Region Filter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01584" y="1901952"/>
            <a:ext cx="269748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West • South • East • Central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77240" y="2788920"/>
            <a:ext cx="32918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51560" y="3063240"/>
            <a:ext cx="914400" cy="283464"/>
          </a:xfrm>
          <a:prstGeom prst="roundRect">
            <a:avLst>
              <a:gd name="adj" fmla="val 20968"/>
            </a:avLst>
          </a:prstGeom>
          <a:solidFill>
            <a:srgbClr val="121E65"/>
          </a:solidFill>
          <a:ln w="6350">
            <a:solidFill>
              <a:srgbClr val="121E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2144" y="3129991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SALES KPI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051560" y="3611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93E8"/>
                </a:solidFill>
              </a:rPr>
              <a:t>252.12K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51560" y="4133088"/>
            <a:ext cx="248716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Selected region sales value shown for quick business comparison.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2788920"/>
            <a:ext cx="32918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63240"/>
            <a:ext cx="914400" cy="283464"/>
          </a:xfrm>
          <a:prstGeom prst="roundRect">
            <a:avLst>
              <a:gd name="adj" fmla="val 20968"/>
            </a:avLst>
          </a:prstGeom>
          <a:solidFill>
            <a:srgbClr val="121E65"/>
          </a:solidFill>
          <a:ln w="6350">
            <a:solidFill>
              <a:srgbClr val="121E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3129991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PROFIT KPI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4709160" y="3611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A98B"/>
                </a:solidFill>
              </a:rPr>
              <a:t>26.55K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709160" y="4133088"/>
            <a:ext cx="248716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Profit card helps understand earning performance in the selected segment.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92440" y="2788920"/>
            <a:ext cx="32918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3063240"/>
            <a:ext cx="1097280" cy="283464"/>
          </a:xfrm>
          <a:prstGeom prst="roundRect">
            <a:avLst>
              <a:gd name="adj" fmla="val 20968"/>
            </a:avLst>
          </a:prstGeom>
          <a:solidFill>
            <a:srgbClr val="121E65"/>
          </a:solidFill>
          <a:ln w="6350">
            <a:solidFill>
              <a:srgbClr val="121E6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67344" y="3129991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QUANTITY KPI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8366760" y="3611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7A3D"/>
                </a:solidFill>
              </a:rPr>
              <a:t>4K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366760" y="4133088"/>
            <a:ext cx="248716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Quantity card reflects the volume of products sold in the filtered view.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600200" cy="141732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257800"/>
            <a:ext cx="1417320" cy="132588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03504"/>
            <a:ext cx="2011680" cy="0"/>
          </a:xfrm>
          <a:prstGeom prst="line">
            <a:avLst/>
          </a:prstGeom>
          <a:noFill/>
          <a:ln w="38100">
            <a:solidFill>
              <a:srgbClr val="1C93E8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121E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 Analysis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Dashboard visuals explain performance by category, year, payment mode and shipping mode.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8368" y="1243584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4813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E65"/>
                </a:solidFill>
              </a:rPr>
              <a:t>Sales by Category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960120" y="1810512"/>
          <a:ext cx="4526280" cy="1298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6272784" y="1243584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65392" y="1481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E65"/>
                </a:solidFill>
              </a:rPr>
              <a:t>Yearly Sales Trend</a:t>
            </a:r>
            <a:endParaRPr lang="en-US" sz="140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6565392" y="1810512"/>
          <a:ext cx="4343400" cy="1298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658368" y="37490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60120" y="39502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E65"/>
                </a:solidFill>
              </a:rPr>
              <a:t>Payment Mode</a:t>
            </a:r>
            <a:endParaRPr lang="en-US" sz="1400" dirty="0"/>
          </a:p>
        </p:txBody>
      </p:sp>
      <p:graphicFrame>
        <p:nvGraphicFramePr>
          <p:cNvPr id="15" name="Chart 2"/>
          <p:cNvGraphicFramePr/>
          <p:nvPr/>
        </p:nvGraphicFramePr>
        <p:xfrm>
          <a:off x="987552" y="4242816"/>
          <a:ext cx="1691640" cy="1115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Text 11"/>
          <p:cNvSpPr/>
          <p:nvPr/>
        </p:nvSpPr>
        <p:spPr>
          <a:xfrm>
            <a:off x="2907792" y="4389120"/>
            <a:ext cx="233172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COD has the highest sales contribution, followed by Online and Cards.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6272784" y="37490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565392" y="3950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E65"/>
                </a:solidFill>
              </a:rPr>
              <a:t>Ship Mode Orders</a:t>
            </a:r>
            <a:endParaRPr lang="en-US" sz="1400" dirty="0"/>
          </a:p>
        </p:txBody>
      </p:sp>
      <p:graphicFrame>
        <p:nvGraphicFramePr>
          <p:cNvPr id="19" name="Chart 3"/>
          <p:cNvGraphicFramePr/>
          <p:nvPr/>
        </p:nvGraphicFramePr>
        <p:xfrm>
          <a:off x="6565392" y="4242816"/>
          <a:ext cx="1691640" cy="1115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Text 14"/>
          <p:cNvSpPr/>
          <p:nvPr/>
        </p:nvSpPr>
        <p:spPr>
          <a:xfrm>
            <a:off x="8485632" y="4389120"/>
            <a:ext cx="233172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Standard Class is the most used shipping method in the dataset.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600200" cy="141732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257800"/>
            <a:ext cx="1417320" cy="132588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03504"/>
            <a:ext cx="2011680" cy="0"/>
          </a:xfrm>
          <a:prstGeom prst="line">
            <a:avLst/>
          </a:prstGeom>
          <a:noFill/>
          <a:ln w="38100">
            <a:solidFill>
              <a:srgbClr val="1C93E8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121E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Regional Business Performance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West and East show stronger sales/profit, while South has lower sales but useful filtered insights.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1325880"/>
            <a:ext cx="5230368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6093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E65"/>
                </a:solidFill>
              </a:rPr>
              <a:t>Sales by Region</a:t>
            </a:r>
            <a:endParaRPr lang="en-US" sz="15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987552" y="2011680"/>
          <a:ext cx="44805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6236208" y="1325880"/>
            <a:ext cx="5230368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37960" y="16093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E65"/>
                </a:solidFill>
              </a:rPr>
              <a:t>Profit by Region</a:t>
            </a:r>
            <a:endParaRPr lang="en-US" sz="150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6519672" y="2011680"/>
          <a:ext cx="44805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1901952" y="5687568"/>
            <a:ext cx="84124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121408" y="5843016"/>
            <a:ext cx="7955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1F2937"/>
                </a:solidFill>
              </a:rPr>
              <a:t>Insight: West region leads both sales and profit; South filter highlights 252.12K sales and 26.55K profit.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600200" cy="141732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257800"/>
            <a:ext cx="1417320" cy="132588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03504"/>
            <a:ext cx="2011680" cy="0"/>
          </a:xfrm>
          <a:prstGeom prst="line">
            <a:avLst/>
          </a:prstGeom>
          <a:noFill/>
          <a:ln w="38100">
            <a:solidFill>
              <a:srgbClr val="1C93E8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121E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Findings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Short business insights generated from the dashboard visuals.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123444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13990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C93E8"/>
                </a:solidFill>
              </a:rPr>
              <a:t>252.12K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96112" y="18013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South Sales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044952" y="123444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18688" y="13990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A98B"/>
                </a:solidFill>
              </a:rPr>
              <a:t>26.55K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27832" y="18013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South Profit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376672" y="123444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50408" y="13990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27A3D"/>
                </a:solidFill>
              </a:rPr>
              <a:t>4K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59552" y="18013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Quantity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13232" y="2542032"/>
            <a:ext cx="10771632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43000" y="290779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1C93E8"/>
          </a:solidFill>
          <a:ln w="12700">
            <a:solidFill>
              <a:srgbClr val="1C9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299466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600200" y="2958084"/>
            <a:ext cx="4407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West region has the highest sales and profit.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290779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25A98B"/>
          </a:solidFill>
          <a:ln w="12700">
            <a:solidFill>
              <a:srgbClr val="25A9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99466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766560" y="2958084"/>
            <a:ext cx="4407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Office Supplies is the top sales category.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143000" y="3712464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F27A3D"/>
          </a:solidFill>
          <a:ln w="12700">
            <a:solidFill>
              <a:srgbClr val="F27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37993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600200" y="3762756"/>
            <a:ext cx="4407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Sales improved strongly from 2019 to 2020.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3712464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8586D5"/>
          </a:solidFill>
          <a:ln w="12700">
            <a:solidFill>
              <a:srgbClr val="8586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7993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766560" y="3762756"/>
            <a:ext cx="4407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COD is the leading payment mode by sales.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143000" y="4517136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35A5A"/>
          </a:solidFill>
          <a:ln w="12700">
            <a:solidFill>
              <a:srgbClr val="E35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460400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600200" y="4567428"/>
            <a:ext cx="4407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Standard Class is the most common shipping mode.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9360" y="4517136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121E65"/>
          </a:solidFill>
          <a:ln w="12700">
            <a:solidFill>
              <a:srgbClr val="121E6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60400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66560" y="4567428"/>
            <a:ext cx="4407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Region slicer makes focused business comparison simple.</a:t>
            </a:r>
            <a:endParaRPr lang="en-US" sz="11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600200" cy="141732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257800"/>
            <a:ext cx="1417320" cy="132588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03504"/>
            <a:ext cx="2011680" cy="0"/>
          </a:xfrm>
          <a:prstGeom prst="line">
            <a:avLst/>
          </a:prstGeom>
          <a:noFill/>
          <a:ln w="38100">
            <a:solidFill>
              <a:srgbClr val="1C93E8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121E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&amp; Future Scope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The project connects Python data preparation with Power BI business visualization.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5166360" cy="4370832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1700784"/>
            <a:ext cx="1051560" cy="283464"/>
          </a:xfrm>
          <a:prstGeom prst="roundRect">
            <a:avLst>
              <a:gd name="adj" fmla="val 20968"/>
            </a:avLst>
          </a:prstGeom>
          <a:solidFill>
            <a:srgbClr val="121E65"/>
          </a:solidFill>
          <a:ln w="6350">
            <a:solidFill>
              <a:srgbClr val="121E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1767535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CONCLUSION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51560" y="2240280"/>
            <a:ext cx="434340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The project successfully converts Superstore sales data into an interactive business dashboard. It highlights important sales, profit, quantity, category, payment, shipping and regional trends.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3730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E65"/>
                </a:solidFill>
              </a:rPr>
              <a:t>Final 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4151376"/>
            <a:ext cx="434340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67085"/>
                </a:solidFill>
              </a:rPr>
              <a:t>A neat dashboard that supports faster sales and business management decisions.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309360" y="1417320"/>
            <a:ext cx="5166360" cy="4370832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1700784"/>
            <a:ext cx="1234440" cy="283464"/>
          </a:xfrm>
          <a:prstGeom prst="roundRect">
            <a:avLst>
              <a:gd name="adj" fmla="val 20968"/>
            </a:avLst>
          </a:prstGeom>
          <a:solidFill>
            <a:srgbClr val="121E65"/>
          </a:solidFill>
          <a:ln w="6350">
            <a:solidFill>
              <a:srgbClr val="121E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84264" y="1767535"/>
            <a:ext cx="1033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FUTURE SCOPE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6583680" y="2258568"/>
            <a:ext cx="210312" cy="210312"/>
          </a:xfrm>
          <a:prstGeom prst="ellipse">
            <a:avLst/>
          </a:prstGeom>
          <a:solidFill>
            <a:srgbClr val="1C93E8"/>
          </a:solidFill>
          <a:ln w="12700">
            <a:solidFill>
              <a:srgbClr val="1C9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290572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6894576" y="22311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Add monthly sales forecasting using machine learning.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583680" y="2807208"/>
            <a:ext cx="210312" cy="210312"/>
          </a:xfrm>
          <a:prstGeom prst="ellipse">
            <a:avLst/>
          </a:prstGeom>
          <a:solidFill>
            <a:srgbClr val="25A98B"/>
          </a:solidFill>
          <a:ln w="12700">
            <a:solidFill>
              <a:srgbClr val="25A9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839212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6894576" y="27797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Connect dashboard to live database or cloud storage.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583680" y="3355848"/>
            <a:ext cx="210312" cy="210312"/>
          </a:xfrm>
          <a:prstGeom prst="ellipse">
            <a:avLst/>
          </a:prstGeom>
          <a:solidFill>
            <a:srgbClr val="F27A3D"/>
          </a:solidFill>
          <a:ln w="12700">
            <a:solidFill>
              <a:srgbClr val="F27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387852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6894576" y="332841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Add alerts for low profit or low-performing regions.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583680" y="3904488"/>
            <a:ext cx="210312" cy="210312"/>
          </a:xfrm>
          <a:prstGeom prst="ellipse">
            <a:avLst/>
          </a:prstGeom>
          <a:solidFill>
            <a:srgbClr val="8586D5"/>
          </a:solidFill>
          <a:ln w="12700">
            <a:solidFill>
              <a:srgbClr val="8586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936492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894576" y="38770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Publish dashboard for web-based access.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583680" y="4453128"/>
            <a:ext cx="210312" cy="210312"/>
          </a:xfrm>
          <a:prstGeom prst="ellipse">
            <a:avLst/>
          </a:prstGeom>
          <a:solidFill>
            <a:srgbClr val="E35A5A"/>
          </a:solidFill>
          <a:ln w="12700">
            <a:solidFill>
              <a:srgbClr val="E35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4485132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894576" y="442569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Add more filters for state, segment and product.</a:t>
            </a:r>
            <a:endParaRPr lang="en-US" sz="112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600200" cy="141732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257800"/>
            <a:ext cx="1417320" cy="1325880"/>
          </a:xfrm>
          <a:prstGeom prst="arc">
            <a:avLst/>
          </a:prstGeom>
          <a:solidFill>
            <a:srgbClr val="EAF5FF">
              <a:alpha val="0"/>
            </a:srgbClr>
          </a:solidFill>
          <a:ln w="25400">
            <a:solidFill>
              <a:srgbClr val="77C4F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03504"/>
            <a:ext cx="2011680" cy="0"/>
          </a:xfrm>
          <a:prstGeom prst="line">
            <a:avLst/>
          </a:prstGeom>
          <a:noFill/>
          <a:ln w="38100">
            <a:solidFill>
              <a:srgbClr val="1C93E8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1556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21E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58952" y="19019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Big Data Sales &amp; Business Management Dashboard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770632"/>
            <a:ext cx="4892040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31181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121E65"/>
                </a:solidFill>
              </a:rPr>
              <a:t>Presented by: Shruti Vinod Urkude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1051560" y="35478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IBM Big Data Project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37960" y="1051560"/>
            <a:ext cx="4617720" cy="4407408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1430">
            <a:solidFill>
              <a:srgbClr val="D9EAF8"/>
            </a:solidFill>
            <a:prstDash val="solid"/>
          </a:ln>
          <a:effectLst>
            <a:outerShdw blurRad="17780" dist="50800" dir="2700000" algn="bl" rotWithShape="0">
              <a:srgbClr val="6B7C8E">
                <a:alpha val="17000"/>
              </a:srgbClr>
            </a:outerShdw>
          </a:effectLst>
        </p:spPr>
      </p:sp>
      <p:pic>
        <p:nvPicPr>
          <p:cNvPr id="11" name="Image 0" descr="/mnt/data/111.jpeg"/>
          <p:cNvPicPr>
            <a:picLocks noChangeAspect="1"/>
          </p:cNvPicPr>
          <p:nvPr/>
        </p:nvPicPr>
        <p:blipFill>
          <a:blip r:embed="rId3"/>
          <a:srcRect l="8000" r="34443" b="5000"/>
          <a:stretch/>
        </p:blipFill>
        <p:spPr>
          <a:xfrm>
            <a:off x="6784848" y="1316736"/>
            <a:ext cx="4133088" cy="38770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952</Words>
  <Application>Microsoft Office PowerPoint</Application>
  <PresentationFormat>Widescreen</PresentationFormat>
  <Paragraphs>218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IBM Big Data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Sales &amp; Business Management Dashboard</dc:title>
  <dc:subject>Big Data Sales &amp; Business Management Dashboard</dc:subject>
  <dc:creator>OpenAI</dc:creator>
  <cp:lastModifiedBy>shruti urkude</cp:lastModifiedBy>
  <cp:revision>1</cp:revision>
  <dcterms:created xsi:type="dcterms:W3CDTF">2026-07-09T17:47:44Z</dcterms:created>
  <dcterms:modified xsi:type="dcterms:W3CDTF">2026-07-09T18:02:32Z</dcterms:modified>
</cp:coreProperties>
</file>